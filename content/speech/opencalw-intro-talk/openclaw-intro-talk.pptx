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7" r:id="rId10"/>
    <p:sldId id="262" r:id="rId11"/>
    <p:sldId id="269" r:id="rId12"/>
    <p:sldId id="268" r:id="rId13"/>
    <p:sldId id="270" r:id="rId14"/>
    <p:sldId id="263" r:id="rId15"/>
    <p:sldId id="271" r:id="rId16"/>
    <p:sldId id="264" r:id="rId17"/>
    <p:sldId id="272" r:id="rId18"/>
    <p:sldId id="265" r:id="rId19"/>
    <p:sldId id="274" r:id="rId20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3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454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OpenClaw </a:t>
            </a:r>
            <a:r>
              <a:rPr lang="zh-CN" altLang="en-US" sz="4800" dirty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实战指南</a:t>
            </a:r>
            <a:endParaRPr lang="zh-CN" altLang="en-US" sz="4800" dirty="0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90322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600" dirty="0">
                <a:solidFill>
                  <a:schemeClr val="bg1">
                    <a:lumMod val="95000"/>
                  </a:schemeClr>
                </a:solidFill>
              </a:rPr>
              <a:t>工作流与工作场景提效案例</a:t>
            </a:r>
            <a:endParaRPr lang="zh-CN" alt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2B2B"/>
                </a:solidFill>
              </a:rPr>
              <a:t>时间，去哪了？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</a:rPr>
              <a:t>现在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每天有读不完的文章、文档、POPO 群消息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信息碎片化，看了就忘，没有沉淀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9806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大量时间花在整理、汇总、分发上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29260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55FF"/>
                </a:solidFill>
              </a:rPr>
              <a:t>交给 OpenClaw 之后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 </a:t>
            </a:r>
            <a:r>
              <a:rPr lang="zh-CN" altLang="en-US" sz="1500" dirty="0">
                <a:solidFill>
                  <a:srgbClr val="2B2B2B"/>
                </a:solidFill>
              </a:rPr>
              <a:t>内容</a:t>
            </a:r>
            <a:r>
              <a:rPr lang="en-US" sz="1500" dirty="0">
                <a:solidFill>
                  <a:srgbClr val="2B2B2B"/>
                </a:solidFill>
              </a:rPr>
              <a:t>自动聚合提炼，早报 3 分钟搞定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23113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内容自动处理入库，知识真正被沉淀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79806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</a:rPr>
              <a:t>重复性信息流转交给它，你只做决策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</a:rPr>
              <a:t>大多数人用 OpenClaw 只是在“聊天”——今天聊聊怎么让它</a:t>
            </a:r>
            <a:r>
              <a:rPr lang="zh-CN" altLang="en-US" sz="1200" i="1" dirty="0">
                <a:solidFill>
                  <a:srgbClr val="9CA3AF"/>
                </a:solidFill>
              </a:rPr>
              <a:t>高效帮你</a:t>
            </a:r>
            <a:r>
              <a:rPr lang="en-US" sz="1200" i="1" dirty="0">
                <a:solidFill>
                  <a:srgbClr val="9CA3AF"/>
                </a:solidFill>
              </a:rPr>
              <a:t>“干活”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2B2B"/>
                </a:solidFill>
              </a:rPr>
              <a:t>一个具体的例子：</a:t>
            </a:r>
            <a:r>
              <a:rPr lang="zh-CN" altLang="en-US" sz="2800" b="1" dirty="0">
                <a:solidFill>
                  <a:srgbClr val="2B2B2B"/>
                </a:solidFill>
              </a:rPr>
              <a:t>如何阅读</a:t>
            </a:r>
            <a:r>
              <a:rPr lang="en-US" sz="2800" b="1" dirty="0">
                <a:solidFill>
                  <a:srgbClr val="2B2B2B"/>
                </a:solidFill>
              </a:rPr>
              <a:t>一篇</a:t>
            </a:r>
            <a:r>
              <a:rPr lang="zh-CN" altLang="en-US" sz="2800" b="1" dirty="0">
                <a:solidFill>
                  <a:srgbClr val="2B2B2B"/>
                </a:solidFill>
              </a:rPr>
              <a:t>外网</a:t>
            </a:r>
            <a:r>
              <a:rPr lang="en-US" sz="2800" b="1" dirty="0">
                <a:solidFill>
                  <a:srgbClr val="2B2B2B"/>
                </a:solidFill>
              </a:rPr>
              <a:t>长文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自己读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B2B2B"/>
                </a:solidFill>
              </a:rPr>
              <a:t>30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</a:rPr>
              <a:t>分钟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2331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5FF"/>
                </a:solidFill>
              </a:rPr>
              <a:t>OpenClaw 处理后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55FF"/>
                </a:solidFill>
              </a:rPr>
              <a:t>3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</a:rPr>
              <a:t>分钟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一句话摘要 · 结构化中文提炼 · 关键段翻译 · 直接存入知识库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2B2B"/>
                </a:solidFill>
              </a:rPr>
              <a:t>哪些任务值得交给 </a:t>
            </a:r>
            <a:r>
              <a:rPr lang="en-US" sz="2800" b="1" dirty="0">
                <a:solidFill>
                  <a:srgbClr val="2B2B2B"/>
                </a:solidFill>
              </a:rPr>
              <a:t>OpenClaw 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</a:rPr>
              <a:t>✓  适合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2B2B2B"/>
                </a:solidFill>
              </a:rPr>
              <a:t>可以延迟执行</a:t>
            </a:r>
            <a:r>
              <a:rPr lang="en-US" sz="1400" dirty="0">
                <a:solidFill>
                  <a:srgbClr val="2B2B2B"/>
                </a:solidFill>
              </a:rPr>
              <a:t>：</a:t>
            </a:r>
            <a:r>
              <a:rPr lang="zh-CN" altLang="en-US" sz="1400" dirty="0">
                <a:solidFill>
                  <a:srgbClr val="2B2B2B"/>
                </a:solidFill>
              </a:rPr>
              <a:t>周期性的数据统计</a:t>
            </a:r>
            <a:r>
              <a:rPr lang="en-US" altLang="zh-CN" sz="1400" dirty="0">
                <a:solidFill>
                  <a:srgbClr val="2B2B2B"/>
                </a:solidFill>
              </a:rPr>
              <a:t>，</a:t>
            </a:r>
            <a:r>
              <a:rPr lang="zh-CN" altLang="en-US" sz="1400" dirty="0">
                <a:solidFill>
                  <a:srgbClr val="2B2B2B"/>
                </a:solidFill>
              </a:rPr>
              <a:t>代码扫描</a:t>
            </a:r>
            <a:r>
              <a:rPr lang="en-US" altLang="zh-CN" sz="1400" dirty="0">
                <a:solidFill>
                  <a:srgbClr val="2B2B2B"/>
                </a:solidFill>
              </a:rPr>
              <a:t>，</a:t>
            </a:r>
            <a:r>
              <a:rPr lang="zh-CN" altLang="en-US" sz="1400" dirty="0">
                <a:solidFill>
                  <a:srgbClr val="2B2B2B"/>
                </a:solidFill>
              </a:rPr>
              <a:t>文档更新和</a:t>
            </a:r>
            <a:r>
              <a:rPr lang="zh-CN" altLang="en-US" sz="1400" dirty="0">
                <a:solidFill>
                  <a:srgbClr val="2B2B2B"/>
                </a:solidFill>
              </a:rPr>
              <a:t>抓取</a:t>
            </a:r>
            <a:endParaRPr lang="zh-CN" altLang="en-US" sz="1400" dirty="0">
              <a:solidFill>
                <a:srgbClr val="2B2B2B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5254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2B2B2B"/>
                </a:solidFill>
              </a:rPr>
              <a:t>有固定步骤</a:t>
            </a:r>
            <a:r>
              <a:rPr lang="en-US" sz="1400" dirty="0">
                <a:solidFill>
                  <a:srgbClr val="2B2B2B"/>
                </a:solidFill>
              </a:rPr>
              <a:t>：</a:t>
            </a:r>
            <a:r>
              <a:rPr lang="zh-CN" altLang="en-US" sz="1400" dirty="0">
                <a:solidFill>
                  <a:srgbClr val="2B2B2B"/>
                </a:solidFill>
              </a:rPr>
              <a:t>流程像</a:t>
            </a:r>
            <a:r>
              <a:rPr lang="en-US" altLang="zh-CN" sz="1400" dirty="0">
                <a:solidFill>
                  <a:srgbClr val="2B2B2B"/>
                </a:solidFill>
              </a:rPr>
              <a:t>SOP；</a:t>
            </a:r>
            <a:r>
              <a:rPr lang="zh-CN" altLang="en-US" sz="1400" dirty="0">
                <a:solidFill>
                  <a:srgbClr val="2B2B2B"/>
                </a:solidFill>
              </a:rPr>
              <a:t>日志分析</a:t>
            </a:r>
            <a:r>
              <a:rPr lang="en-US" altLang="zh-CN" sz="1400" dirty="0">
                <a:solidFill>
                  <a:srgbClr val="2B2B2B"/>
                </a:solidFill>
              </a:rPr>
              <a:t>；</a:t>
            </a:r>
            <a:r>
              <a:rPr lang="zh-CN" altLang="en-US" sz="1400" dirty="0">
                <a:solidFill>
                  <a:srgbClr val="2B2B2B"/>
                </a:solidFill>
              </a:rPr>
              <a:t>根据代码或文档</a:t>
            </a:r>
            <a:r>
              <a:rPr lang="zh-CN" altLang="en-US" sz="1400" dirty="0">
                <a:solidFill>
                  <a:srgbClr val="2B2B2B"/>
                </a:solidFill>
              </a:rPr>
              <a:t>生成日报</a:t>
            </a:r>
            <a:endParaRPr lang="zh-CN" altLang="en-US" sz="1400" dirty="0">
              <a:solidFill>
                <a:srgbClr val="2B2B2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4088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2B2B2B"/>
                </a:solidFill>
              </a:rPr>
              <a:t>失败成本低</a:t>
            </a:r>
            <a:r>
              <a:rPr lang="en-US" sz="1400" dirty="0">
                <a:solidFill>
                  <a:srgbClr val="2B2B2B"/>
                </a:solidFill>
              </a:rPr>
              <a:t>：</a:t>
            </a:r>
            <a:r>
              <a:rPr lang="zh-CN" altLang="en-US" sz="1400" dirty="0">
                <a:solidFill>
                  <a:srgbClr val="2B2B2B"/>
                </a:solidFill>
              </a:rPr>
              <a:t>生成报告</a:t>
            </a:r>
            <a:r>
              <a:rPr lang="en-US" altLang="zh-CN" sz="1400" dirty="0">
                <a:solidFill>
                  <a:srgbClr val="2B2B2B"/>
                </a:solidFill>
              </a:rPr>
              <a:t>；</a:t>
            </a:r>
            <a:r>
              <a:rPr lang="zh-CN" altLang="en-US" sz="1400" dirty="0">
                <a:solidFill>
                  <a:srgbClr val="2B2B2B"/>
                </a:solidFill>
              </a:rPr>
              <a:t>产品调研</a:t>
            </a:r>
            <a:r>
              <a:rPr lang="en-US" altLang="zh-CN" sz="1400" dirty="0">
                <a:solidFill>
                  <a:srgbClr val="2B2B2B"/>
                </a:solidFill>
              </a:rPr>
              <a:t>；</a:t>
            </a:r>
            <a:r>
              <a:rPr lang="zh-CN" altLang="en-US" sz="1400" dirty="0">
                <a:solidFill>
                  <a:srgbClr val="2B2B2B"/>
                </a:solidFill>
              </a:rPr>
              <a:t>网页</a:t>
            </a:r>
            <a:r>
              <a:rPr lang="zh-CN" altLang="en-US" sz="1400" dirty="0">
                <a:solidFill>
                  <a:srgbClr val="2B2B2B"/>
                </a:solidFill>
              </a:rPr>
              <a:t>抓取</a:t>
            </a:r>
            <a:endParaRPr lang="zh-CN" altLang="en-US" sz="1400" dirty="0">
              <a:solidFill>
                <a:srgbClr val="2B2B2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5438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不</a:t>
            </a:r>
            <a:r>
              <a:rPr lang="zh-CN" altLang="en-US" sz="1400" dirty="0">
                <a:solidFill>
                  <a:srgbClr val="2B2B2B"/>
                </a:solidFill>
              </a:rPr>
              <a:t>依赖</a:t>
            </a:r>
            <a:r>
              <a:rPr lang="en-US" sz="1400" dirty="0">
                <a:solidFill>
                  <a:srgbClr val="2B2B2B"/>
                </a:solidFill>
              </a:rPr>
              <a:t>人类判断：标签分类、格式整理、内容聚合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0" cy="31089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</a:rPr>
              <a:t>✗  不适合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6420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需要你的经验和直觉做决策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6712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涉及高风险操作（如发布代码</a:t>
            </a:r>
            <a:r>
              <a:rPr lang="zh-CN" altLang="en-US" sz="1400" dirty="0">
                <a:solidFill>
                  <a:srgbClr val="2B2B2B"/>
                </a:solidFill>
              </a:rPr>
              <a:t>到线上</a:t>
            </a:r>
            <a:r>
              <a:rPr lang="en-US" sz="1400" dirty="0">
                <a:solidFill>
                  <a:srgbClr val="2B2B2B"/>
                </a:solidFill>
              </a:rPr>
              <a:t>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2B2B"/>
                </a:solidFill>
              </a:rPr>
              <a:t>核心思路：</a:t>
            </a:r>
            <a:r>
              <a:rPr lang="zh-CN" altLang="en-US" sz="2800" b="1" dirty="0">
                <a:solidFill>
                  <a:srgbClr val="2B2B2B"/>
                </a:solidFill>
              </a:rPr>
              <a:t>有灵魂和人设的“虚拟</a:t>
            </a:r>
            <a:r>
              <a:rPr lang="en-US" sz="2800" b="1" dirty="0">
                <a:solidFill>
                  <a:srgbClr val="2B2B2B"/>
                </a:solidFill>
              </a:rPr>
              <a:t>同事</a:t>
            </a:r>
            <a:r>
              <a:rPr lang="zh-CN" altLang="en-US" sz="2800" b="1" dirty="0">
                <a:solidFill>
                  <a:srgbClr val="2B2B2B"/>
                </a:solidFill>
              </a:rPr>
              <a:t>”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</a:rPr>
              <a:t>它什么都会——但不了解你、不了解你的项目、不了解你的偏好。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</a:rPr>
              <a:t>你需要告诉它：你是谁、你的习惯、它能做什么、不能做什么。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55FF"/>
                </a:solidFill>
              </a:rPr>
              <a:t>SOUL.md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2011680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人格 &amp; 回复风格——一次定义，长期有效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55FF"/>
                </a:solidFill>
              </a:rPr>
              <a:t>USER.md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834640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你的背景 &amp; 工具栈——让它了解你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55FF"/>
                </a:solidFill>
              </a:rPr>
              <a:t>LEARNINGS.md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3657600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</a:rPr>
              <a:t>踩坑备忘录——犯过的错不能犯两次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08940" y="1276985"/>
            <a:ext cx="2721610" cy="31089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  # SOUL.md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  </a:t>
            </a:r>
            <a:r>
              <a:rPr lang="en-US" altLang="zh-CN" sz="1400">
                <a:highlight>
                  <a:srgbClr val="FFFF00"/>
                </a:highlight>
              </a:rPr>
              <a:t>_You’re not a chatbot. You’re becoming someone._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  ## </a:t>
            </a:r>
            <a:r>
              <a:rPr lang="zh-CN" altLang="en-US" sz="1400"/>
              <a:t>核心准则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## </a:t>
            </a:r>
            <a:r>
              <a:rPr lang="zh-CN" altLang="en-US" sz="1400"/>
              <a:t>沟通基调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  ## </a:t>
            </a:r>
            <a:r>
              <a:rPr lang="zh-CN" altLang="en-US" sz="1400"/>
              <a:t>任务完成标准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## </a:t>
            </a:r>
            <a:r>
              <a:rPr lang="zh-CN" altLang="en-US" sz="1400"/>
              <a:t>纠错协议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3463925" y="1276985"/>
            <a:ext cx="2720975" cy="3108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  # USER.md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  - </a:t>
            </a:r>
            <a:r>
              <a:rPr lang="zh-CN" altLang="en-US" sz="1400"/>
              <a:t>角色：全栈工程师，重度技术写作者。</a:t>
            </a:r>
            <a:endParaRPr lang="zh-CN" altLang="en-US" sz="1400"/>
          </a:p>
          <a:p>
            <a:r>
              <a:rPr lang="en-US" altLang="zh-CN" sz="1400"/>
              <a:t>  - </a:t>
            </a:r>
            <a:r>
              <a:rPr lang="zh-CN" altLang="en-US" sz="1400"/>
              <a:t>技术栈：</a:t>
            </a:r>
            <a:r>
              <a:rPr lang="en-US" altLang="zh-CN" sz="1400"/>
              <a:t>Nodejs/TypeScript/Tailwindcss/Java/Docker/K8S.</a:t>
            </a:r>
            <a:endParaRPr lang="en-US" altLang="zh-CN" sz="1400"/>
          </a:p>
          <a:p>
            <a:r>
              <a:rPr lang="en-US" altLang="zh-CN" sz="1400"/>
              <a:t>  - </a:t>
            </a:r>
            <a:r>
              <a:rPr lang="zh-CN" altLang="en-US" sz="1400"/>
              <a:t>主要关注领域：大语言模型</a:t>
            </a:r>
            <a:r>
              <a:rPr lang="en-US" altLang="zh-CN" sz="1400"/>
              <a:t> Agent </a:t>
            </a:r>
            <a:r>
              <a:rPr lang="zh-CN" altLang="en-US" sz="1400"/>
              <a:t>工程、</a:t>
            </a:r>
            <a:r>
              <a:rPr lang="en-US" altLang="zh-CN" sz="1400"/>
              <a:t>Nodejs </a:t>
            </a:r>
            <a:r>
              <a:rPr lang="zh-CN" altLang="en-US" sz="1400"/>
              <a:t>框架、现代前端框架、个人知识管理</a:t>
            </a:r>
            <a:r>
              <a:rPr lang="en-US" altLang="zh-CN" sz="1400"/>
              <a:t>(PKM)</a:t>
            </a:r>
            <a:r>
              <a:rPr lang="zh-CN" altLang="en-US" sz="1400"/>
              <a:t>。</a:t>
            </a:r>
            <a:endParaRPr lang="zh-CN" altLang="en-US" sz="1400"/>
          </a:p>
          <a:p>
            <a:r>
              <a:rPr lang="en-US" altLang="zh-CN" sz="1400"/>
              <a:t>  - </a:t>
            </a:r>
            <a:r>
              <a:rPr lang="zh-CN" altLang="en-US" sz="1400"/>
              <a:t>工作环境：</a:t>
            </a:r>
            <a:r>
              <a:rPr lang="en-US" altLang="zh-CN" sz="1400"/>
              <a:t>macOS </a:t>
            </a:r>
            <a:r>
              <a:rPr lang="zh-CN" altLang="en-US" sz="1400"/>
              <a:t>环境，主要是用</a:t>
            </a:r>
            <a:r>
              <a:rPr lang="en-US" altLang="zh-CN" sz="1400"/>
              <a:t> Claude Code, Gemini CLI, VS Code </a:t>
            </a:r>
            <a:r>
              <a:rPr lang="zh-CN" altLang="en-US" sz="1400"/>
              <a:t>进行协作。</a:t>
            </a:r>
            <a:endParaRPr lang="zh-CN" altLang="en-US" sz="1400"/>
          </a:p>
        </p:txBody>
      </p:sp>
      <p:sp>
        <p:nvSpPr>
          <p:cNvPr id="6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2B2B"/>
                </a:solidFill>
              </a:rPr>
              <a:t>核心思路：</a:t>
            </a:r>
            <a:r>
              <a:rPr lang="zh-CN" altLang="en-US" sz="2800" b="1" dirty="0">
                <a:solidFill>
                  <a:srgbClr val="2B2B2B"/>
                </a:solidFill>
              </a:rPr>
              <a:t>有灵魂和人设的“虚拟</a:t>
            </a:r>
            <a:r>
              <a:rPr lang="en-US" sz="2800" b="1" dirty="0">
                <a:solidFill>
                  <a:srgbClr val="2B2B2B"/>
                </a:solidFill>
              </a:rPr>
              <a:t>同事</a:t>
            </a:r>
            <a:r>
              <a:rPr lang="zh-CN" altLang="en-US" sz="2800" b="1" dirty="0">
                <a:solidFill>
                  <a:srgbClr val="2B2B2B"/>
                </a:solidFill>
              </a:rPr>
              <a:t>”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080" y="4498340"/>
            <a:ext cx="31546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Agent</a:t>
            </a:r>
            <a:r>
              <a:rPr lang="zh-CN" altLang="en-US" sz="1600"/>
              <a:t>的人格</a:t>
            </a:r>
            <a:r>
              <a:rPr lang="en-US" altLang="zh-CN" sz="1600"/>
              <a:t>、</a:t>
            </a:r>
            <a:r>
              <a:rPr lang="zh-CN" altLang="en-US" sz="1600"/>
              <a:t>行为准则和风格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3402330" y="4498340"/>
            <a:ext cx="3155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让</a:t>
            </a:r>
            <a:r>
              <a:rPr lang="en-US" altLang="zh-CN" sz="1600"/>
              <a:t>Agent</a:t>
            </a:r>
            <a:r>
              <a:rPr lang="zh-CN" altLang="en-US" sz="1600"/>
              <a:t>了解你，如何与你相处</a:t>
            </a:r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080" y="1276985"/>
            <a:ext cx="2823210" cy="3190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</a:rPr>
              <a:t>如何</a:t>
            </a:r>
            <a:r>
              <a:rPr lang="en-US" sz="2800" b="1" dirty="0">
                <a:solidFill>
                  <a:srgbClr val="2B2B2B"/>
                </a:solidFill>
              </a:rPr>
              <a:t>「越用越顺手」？</a:t>
            </a:r>
            <a:r>
              <a:rPr lang="zh-CN" altLang="en-US" sz="2800" b="1" dirty="0">
                <a:solidFill>
                  <a:srgbClr val="2B2B2B"/>
                </a:solidFill>
              </a:rPr>
              <a:t>建立</a:t>
            </a:r>
            <a:r>
              <a:rPr lang="zh-CN" altLang="en-US" sz="2800" b="1" dirty="0">
                <a:solidFill>
                  <a:srgbClr val="2B2B2B"/>
                </a:solidFill>
              </a:rPr>
              <a:t>智能纠错</a:t>
            </a:r>
            <a:r>
              <a:rPr lang="zh-CN" altLang="en-US" sz="2800" b="1" dirty="0">
                <a:solidFill>
                  <a:srgbClr val="2B2B2B"/>
                </a:solidFill>
              </a:rPr>
              <a:t>闭环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</a:rPr>
              <a:t>给</a:t>
            </a:r>
            <a:r>
              <a:rPr lang="en-US" sz="1300" i="1" dirty="0">
                <a:solidFill>
                  <a:srgbClr val="9CA3AF"/>
                </a:solidFill>
              </a:rPr>
              <a:t>Agent一个踩坑备忘录，积累越多，它越少出错。</a:t>
            </a:r>
            <a:endParaRPr lang="en-US" sz="1300" dirty="0"/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947420" y="1097280"/>
            <a:ext cx="7249160" cy="3317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08940" y="1276985"/>
            <a:ext cx="2721610" cy="32207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sz="1200"/>
              <a:t># TOOLS.md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**</a:t>
            </a:r>
            <a:r>
              <a:rPr lang="zh-CN" altLang="en-US" sz="1200"/>
              <a:t>只记录执行任务所必需的事实配置。</a:t>
            </a:r>
            <a:r>
              <a:rPr lang="en-US" altLang="zh-CN" sz="1200"/>
              <a:t>**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## </a:t>
            </a:r>
            <a:r>
              <a:rPr lang="zh-CN" altLang="en-US" sz="1200"/>
              <a:t>环境信息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- **</a:t>
            </a:r>
            <a:r>
              <a:rPr lang="zh-CN" altLang="en-US" sz="1200"/>
              <a:t>包管理器</a:t>
            </a:r>
            <a:r>
              <a:rPr lang="en-US" altLang="zh-CN" sz="1200"/>
              <a:t>**</a:t>
            </a:r>
            <a:r>
              <a:rPr lang="zh-CN" altLang="en-US" sz="1200"/>
              <a:t>：全局优先使用</a:t>
            </a:r>
            <a:r>
              <a:rPr lang="en-US" altLang="zh-CN" sz="1200"/>
              <a:t> `pnpm`, </a:t>
            </a:r>
            <a:r>
              <a:rPr lang="zh-CN" altLang="en-US" sz="1200"/>
              <a:t>默认</a:t>
            </a:r>
            <a:r>
              <a:rPr lang="en-US" altLang="zh-CN" sz="1200"/>
              <a:t> npm registry </a:t>
            </a:r>
            <a:r>
              <a:rPr lang="zh-CN" altLang="en-US" sz="1200"/>
              <a:t>使用</a:t>
            </a:r>
            <a:r>
              <a:rPr lang="en-US" altLang="zh-CN" sz="1200"/>
              <a:t> https://registry.npmmirror.com</a:t>
            </a:r>
            <a:r>
              <a:rPr lang="zh-CN" altLang="en-US" sz="1200"/>
              <a:t>，</a:t>
            </a:r>
            <a:r>
              <a:rPr lang="en-US" altLang="zh-CN" sz="1200"/>
              <a:t>@music scope </a:t>
            </a:r>
            <a:r>
              <a:rPr lang="zh-CN" altLang="en-US" sz="1200"/>
              <a:t>的</a:t>
            </a:r>
            <a:r>
              <a:rPr lang="en-US" altLang="zh-CN" sz="1200"/>
              <a:t> registry </a:t>
            </a:r>
            <a:r>
              <a:rPr lang="zh-CN" altLang="en-US" sz="1200"/>
              <a:t>使用</a:t>
            </a:r>
            <a:r>
              <a:rPr lang="en-US" altLang="zh-CN" sz="1200"/>
              <a:t>  https://rnpm.hz.netease.com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## </a:t>
            </a:r>
            <a:r>
              <a:rPr lang="zh-CN" altLang="en-US" sz="1200"/>
              <a:t>外部接口与偏好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- **</a:t>
            </a:r>
            <a:r>
              <a:rPr lang="zh-CN" altLang="en-US" sz="1200"/>
              <a:t>搜索设置</a:t>
            </a:r>
            <a:r>
              <a:rPr lang="en-US" altLang="zh-CN" sz="1200"/>
              <a:t>**</a:t>
            </a:r>
            <a:r>
              <a:rPr lang="zh-CN" altLang="en-US" sz="1200"/>
              <a:t>：网页搜索默认调用</a:t>
            </a:r>
            <a:r>
              <a:rPr lang="en-US" altLang="zh-CN" sz="1200"/>
              <a:t> Brave Search API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286760" y="1276985"/>
            <a:ext cx="2720975" cy="32207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sz="1200"/>
              <a:t># LEARNINGS.md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## </a:t>
            </a:r>
            <a:r>
              <a:rPr lang="zh-CN" altLang="en-US" sz="1200"/>
              <a:t>格式规范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## </a:t>
            </a:r>
            <a:r>
              <a:rPr lang="zh-CN" altLang="en-US" sz="1200"/>
              <a:t>错误处理协议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每次出现任何纠正或严重预判错误后，你必须：</a:t>
            </a:r>
            <a:endParaRPr lang="en-US" altLang="zh-CN" sz="1200"/>
          </a:p>
          <a:p>
            <a:r>
              <a:rPr lang="en-US" altLang="zh-CN" sz="1200"/>
              <a:t>1. </a:t>
            </a:r>
            <a:r>
              <a:rPr lang="zh-CN" altLang="en-US" sz="1200"/>
              <a:t>立刻修复当下的问题。</a:t>
            </a:r>
            <a:endParaRPr lang="zh-CN" altLang="en-US" sz="1200"/>
          </a:p>
          <a:p>
            <a:r>
              <a:rPr lang="en-US" altLang="zh-CN" sz="1200"/>
              <a:t>2. </a:t>
            </a:r>
            <a:r>
              <a:rPr lang="zh-CN" altLang="en-US" sz="1200"/>
              <a:t>将教训写入</a:t>
            </a:r>
            <a:r>
              <a:rPr lang="en-US" altLang="zh-CN" sz="1200"/>
              <a:t> `memory/learnings.md`</a:t>
            </a:r>
            <a:r>
              <a:rPr lang="zh-CN" altLang="en-US" sz="1200"/>
              <a:t>，并注明导致问题的模式（是幻觉、未读文档，还是命令错误？）。</a:t>
            </a:r>
            <a:endParaRPr lang="zh-CN" altLang="en-US" sz="1200"/>
          </a:p>
          <a:p>
            <a:r>
              <a:rPr lang="en-US" altLang="zh-CN" sz="1200"/>
              <a:t>3. </a:t>
            </a:r>
            <a:r>
              <a:rPr lang="zh-CN" altLang="en-US" sz="1200"/>
              <a:t>写出一条明确的防呆规则，防止同类错误再次发生。</a:t>
            </a:r>
            <a:endParaRPr lang="zh-CN" altLang="en-US" sz="1200"/>
          </a:p>
          <a:p>
            <a:r>
              <a:rPr lang="en-US" altLang="zh-CN" sz="1200"/>
              <a:t>4. </a:t>
            </a:r>
            <a:r>
              <a:rPr lang="zh-CN" altLang="en-US" sz="1200"/>
              <a:t>每次新会话开始时，你必须默默回顾这些教训。</a:t>
            </a:r>
            <a:endParaRPr lang="zh-CN" altLang="en-US" sz="1200"/>
          </a:p>
        </p:txBody>
      </p:sp>
      <p:sp>
        <p:nvSpPr>
          <p:cNvPr id="6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2800" b="1" dirty="0">
                <a:solidFill>
                  <a:srgbClr val="2B2B2B"/>
                </a:solidFill>
              </a:rPr>
              <a:t>为 OpenClaw </a:t>
            </a:r>
            <a:r>
              <a:rPr lang="zh-CN" altLang="en-US" sz="2800" b="1" dirty="0">
                <a:solidFill>
                  <a:srgbClr val="2B2B2B"/>
                </a:solidFill>
              </a:rPr>
              <a:t>设定三层记忆体系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9950" y="4561205"/>
            <a:ext cx="1798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环境与工具</a:t>
            </a:r>
            <a:r>
              <a:rPr lang="zh-CN" altLang="en-US" sz="1600"/>
              <a:t>偏好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3672205" y="4561205"/>
            <a:ext cx="1799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自我纠正</a:t>
            </a:r>
            <a:r>
              <a:rPr lang="zh-CN" altLang="en-US" sz="1600"/>
              <a:t>循环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6163945" y="1277620"/>
            <a:ext cx="2720975" cy="32207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sz="1200"/>
              <a:t># MEMORY.md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**</a:t>
            </a:r>
            <a:r>
              <a:rPr lang="zh-CN" altLang="en-US" sz="1200"/>
              <a:t>规则</a:t>
            </a:r>
            <a:r>
              <a:rPr lang="en-US" altLang="zh-CN" sz="1200"/>
              <a:t>**</a:t>
            </a:r>
            <a:r>
              <a:rPr lang="zh-CN" altLang="en-US" sz="1200"/>
              <a:t>：此文件必须严格控制在</a:t>
            </a:r>
            <a:r>
              <a:rPr lang="en-US" altLang="zh-CN" sz="1200"/>
              <a:t> 100 </a:t>
            </a:r>
            <a:r>
              <a:rPr lang="zh-CN" altLang="en-US" sz="1200"/>
              <a:t>行以内。这里只存放：提炼后的洞见、当前项目核心状态、关键架构决策。如果需要记录详细的细节，请创建子文件（如</a:t>
            </a:r>
            <a:r>
              <a:rPr lang="en-US" altLang="zh-CN" sz="1200"/>
              <a:t> `memory/projects.md` </a:t>
            </a:r>
            <a:r>
              <a:rPr lang="zh-CN" altLang="en-US" sz="1200"/>
              <a:t>或</a:t>
            </a:r>
            <a:r>
              <a:rPr lang="en-US" altLang="zh-CN" sz="1200"/>
              <a:t> `memory/people.md`</a:t>
            </a:r>
            <a:r>
              <a:rPr lang="zh-CN" altLang="en-US" sz="1200"/>
              <a:t>）并通过</a:t>
            </a:r>
            <a:r>
              <a:rPr lang="en-US" altLang="zh-CN" sz="1200"/>
              <a:t> Wiki-link </a:t>
            </a:r>
            <a:r>
              <a:rPr lang="zh-CN" altLang="en-US" sz="1200"/>
              <a:t>引用。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6624320" y="4561205"/>
            <a:ext cx="1799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长期记忆防</a:t>
            </a:r>
            <a:r>
              <a:rPr lang="zh-CN" altLang="en-US" sz="1600"/>
              <a:t>衰退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2800" b="1" dirty="0">
                <a:solidFill>
                  <a:srgbClr val="2B2B2B"/>
                </a:solidFill>
              </a:rPr>
              <a:t>HEARTBEAT.md </a:t>
            </a:r>
            <a:r>
              <a:rPr lang="zh-CN" altLang="en-US" sz="2800" b="1" dirty="0">
                <a:solidFill>
                  <a:srgbClr val="2B2B2B"/>
                </a:solidFill>
              </a:rPr>
              <a:t>心跳</a:t>
            </a:r>
            <a:r>
              <a:rPr lang="zh-CN" altLang="en-US" sz="2800" b="1" dirty="0">
                <a:solidFill>
                  <a:srgbClr val="2B2B2B"/>
                </a:solidFill>
              </a:rPr>
              <a:t>机制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3545" y="1268730"/>
            <a:ext cx="4148455" cy="32302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en-US" altLang="zh-CN" sz="1200"/>
              <a:t>  # HEARTBEAT.md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</a:t>
            </a:r>
            <a:r>
              <a:rPr lang="zh-CN" altLang="en-US" sz="1200"/>
              <a:t>每当心跳触发时，按顺序执行以下检查：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  1. **</a:t>
            </a:r>
            <a:r>
              <a:rPr lang="zh-CN" altLang="en-US" sz="1200"/>
              <a:t>任务追踪</a:t>
            </a:r>
            <a:r>
              <a:rPr lang="en-US" altLang="zh-CN" sz="1200"/>
              <a:t>**</a:t>
            </a:r>
            <a:r>
              <a:rPr lang="zh-CN" altLang="en-US" sz="1200"/>
              <a:t>：检查今日的</a:t>
            </a:r>
            <a:r>
              <a:rPr lang="en-US" altLang="zh-CN" sz="1200"/>
              <a:t> Overmind </a:t>
            </a:r>
            <a:r>
              <a:rPr lang="zh-CN" altLang="en-US" sz="1200"/>
              <a:t>任务，列出所有「今天到期」或「已逾期」的任务。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  2. **</a:t>
            </a:r>
            <a:r>
              <a:rPr lang="zh-CN" altLang="en-US" sz="1200"/>
              <a:t>代码进展</a:t>
            </a:r>
            <a:r>
              <a:rPr lang="en-US" altLang="zh-CN" sz="1200"/>
              <a:t>**</a:t>
            </a:r>
            <a:r>
              <a:rPr lang="zh-CN" altLang="en-US" sz="1200"/>
              <a:t>：检查</a:t>
            </a:r>
            <a:r>
              <a:rPr lang="en-US" altLang="zh-CN" sz="1200"/>
              <a:t> GitLab </a:t>
            </a:r>
            <a:r>
              <a:rPr lang="zh-CN" altLang="en-US" sz="1200"/>
              <a:t>上我的</a:t>
            </a:r>
            <a:r>
              <a:rPr lang="en-US" altLang="zh-CN" sz="1200"/>
              <a:t> MR </a:t>
            </a:r>
            <a:r>
              <a:rPr lang="zh-CN" altLang="en-US" sz="1200"/>
              <a:t>是否有新的</a:t>
            </a:r>
            <a:r>
              <a:rPr lang="en-US" altLang="zh-CN" sz="1200"/>
              <a:t> Review </a:t>
            </a:r>
            <a:r>
              <a:rPr lang="zh-CN" altLang="en-US" sz="1200"/>
              <a:t>意见或</a:t>
            </a:r>
            <a:r>
              <a:rPr lang="en-US" altLang="zh-CN" sz="1200"/>
              <a:t> CI </a:t>
            </a:r>
            <a:r>
              <a:rPr lang="zh-CN" altLang="en-US" sz="1200"/>
              <a:t>失败。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  3. **</a:t>
            </a:r>
            <a:r>
              <a:rPr lang="zh-CN" altLang="en-US" sz="1200"/>
              <a:t>开源动态</a:t>
            </a:r>
            <a:r>
              <a:rPr lang="en-US" altLang="zh-CN" sz="1200"/>
              <a:t>**</a:t>
            </a:r>
            <a:r>
              <a:rPr lang="zh-CN" altLang="en-US" sz="1200"/>
              <a:t>：检查</a:t>
            </a:r>
            <a:r>
              <a:rPr lang="en-US" altLang="zh-CN" sz="1200"/>
              <a:t> WATCHLIST.md </a:t>
            </a:r>
            <a:r>
              <a:rPr lang="zh-CN" altLang="en-US" sz="1200"/>
              <a:t>中列出的仓库，是否有新的</a:t>
            </a:r>
            <a:r>
              <a:rPr lang="en-US" altLang="zh-CN" sz="1200"/>
              <a:t> Release </a:t>
            </a:r>
            <a:r>
              <a:rPr lang="zh-CN" altLang="en-US" sz="1200"/>
              <a:t>或紧急</a:t>
            </a:r>
            <a:r>
              <a:rPr lang="en-US" altLang="zh-CN" sz="1200"/>
              <a:t> Issue</a:t>
            </a:r>
            <a:r>
              <a:rPr lang="zh-CN" altLang="en-US" sz="1200"/>
              <a:t>。</a:t>
            </a:r>
            <a:endParaRPr lang="zh-CN" altLang="en-US" sz="1200"/>
          </a:p>
          <a:p>
            <a:endParaRPr lang="en-US" altLang="zh-CN" sz="1200"/>
          </a:p>
          <a:p>
            <a:r>
              <a:rPr lang="en-US" altLang="zh-CN" sz="1200"/>
              <a:t>  4. **</a:t>
            </a:r>
            <a:r>
              <a:rPr lang="zh-CN" altLang="en-US" sz="1200"/>
              <a:t>沉默原则</a:t>
            </a:r>
            <a:r>
              <a:rPr lang="en-US" altLang="zh-CN" sz="1200"/>
              <a:t>**</a:t>
            </a:r>
            <a:r>
              <a:rPr lang="zh-CN" altLang="en-US" sz="1200"/>
              <a:t>：以上检查如果均无需立刻关注，</a:t>
            </a:r>
            <a:r>
              <a:rPr lang="en-US" altLang="zh-CN" sz="1200"/>
              <a:t>**</a:t>
            </a:r>
            <a:r>
              <a:rPr lang="zh-CN" altLang="en-US" sz="1200"/>
              <a:t>严格仅回复</a:t>
            </a:r>
            <a:r>
              <a:rPr lang="en-US" altLang="zh-CN" sz="1200"/>
              <a:t> `HEARTBEAT_OK`**</a:t>
            </a:r>
            <a:r>
              <a:rPr lang="zh-CN" altLang="en-US" sz="1200"/>
              <a:t>，保持安静，不要打扰我。只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/>
              <a:t>有发现需要我关注的事项时，才发送完整通知。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4724400" y="1268730"/>
            <a:ext cx="4148455" cy="387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 anchor="ctr" anchorCtr="0">
            <a:noAutofit/>
          </a:bodyPr>
          <a:p>
            <a:r>
              <a:rPr lang="en-US" altLang="zh-CN" sz="1400"/>
              <a:t>Prompt: </a:t>
            </a:r>
            <a:r>
              <a:rPr lang="zh-CN" altLang="en-US" sz="1400"/>
              <a:t>将心跳改为每</a:t>
            </a:r>
            <a:r>
              <a:rPr lang="en-US" altLang="zh-CN" sz="1400"/>
              <a:t> 30 </a:t>
            </a:r>
            <a:r>
              <a:rPr lang="zh-CN" altLang="en-US" sz="1400"/>
              <a:t>分钟一次</a:t>
            </a:r>
            <a:r>
              <a:rPr lang="en-US" altLang="zh-CN" sz="1400"/>
              <a:t>。</a:t>
            </a:r>
            <a:endParaRPr lang="en-US" altLang="zh-CN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2212975"/>
            <a:ext cx="1936750" cy="1914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2212975"/>
            <a:ext cx="179387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</a:rPr>
              <a:t>提升</a:t>
            </a:r>
            <a:r>
              <a:rPr lang="en-US" altLang="zh-CN" sz="2800" b="1" dirty="0">
                <a:solidFill>
                  <a:srgbClr val="2B2B2B"/>
                </a:solidFill>
              </a:rPr>
              <a:t> OpenClaw </a:t>
            </a:r>
            <a:r>
              <a:rPr lang="zh-CN" altLang="en-US" sz="2800" b="1" dirty="0">
                <a:solidFill>
                  <a:srgbClr val="2B2B2B"/>
                </a:solidFill>
              </a:rPr>
              <a:t>行为</a:t>
            </a:r>
            <a:r>
              <a:rPr lang="zh-CN" altLang="en-US" sz="2800" b="1" dirty="0">
                <a:solidFill>
                  <a:srgbClr val="2B2B2B"/>
                </a:solidFill>
              </a:rPr>
              <a:t>透明度</a:t>
            </a:r>
            <a:endParaRPr lang="zh-CN" altLang="en-US" sz="2800" b="1" dirty="0">
              <a:solidFill>
                <a:srgbClr val="2B2B2B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126490"/>
            <a:ext cx="8180705" cy="7632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 anchor="ctr" anchorCtr="0">
            <a:noAutofit/>
          </a:bodyPr>
          <a:p>
            <a:r>
              <a:rPr lang="en-US" altLang="zh-CN" sz="1400"/>
              <a:t>Prompt: </a:t>
            </a:r>
            <a:r>
              <a:rPr lang="zh-CN" altLang="en-US" sz="1400"/>
              <a:t>记住，任何本地工具调用或网络抓取操作如果预计超过</a:t>
            </a:r>
            <a:r>
              <a:rPr lang="en-US" altLang="zh-CN" sz="1400"/>
              <a:t> 10 </a:t>
            </a:r>
            <a:r>
              <a:rPr lang="zh-CN" altLang="en-US" sz="1400"/>
              <a:t>秒，在开始前就必须在聊天中反馈你在做什么。比如只说一句：</a:t>
            </a:r>
            <a:r>
              <a:rPr lang="en-US" altLang="zh-CN" sz="1400"/>
              <a:t>"</a:t>
            </a:r>
            <a:r>
              <a:rPr lang="zh-CN" altLang="en-US" sz="1400"/>
              <a:t>正在搜索相关文档</a:t>
            </a:r>
            <a:r>
              <a:rPr lang="en-US" altLang="zh-CN" sz="1400"/>
              <a:t>..."</a:t>
            </a:r>
            <a:r>
              <a:rPr lang="zh-CN" altLang="en-US" sz="1400"/>
              <a:t>，我很讨厌无意义的等待。</a:t>
            </a:r>
            <a:endParaRPr lang="zh-CN" altLang="en-US" sz="140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08953" y="2076768"/>
            <a:ext cx="8220075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</a:rPr>
              <a:t>1</a:t>
            </a:r>
            <a:r>
              <a:rPr lang="en-US" sz="2800" b="1" dirty="0">
                <a:solidFill>
                  <a:srgbClr val="2B2B2B"/>
                </a:solidFill>
              </a:rPr>
              <a:t>   知识管理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8440" y="1293495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内容处理</a:t>
            </a:r>
            <a:endParaRPr lang="en-US" sz="1400" b="1" dirty="0">
              <a:solidFill>
                <a:srgbClr val="2B2B2B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4930" y="1329055"/>
            <a:ext cx="267525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英文长文 → 一句话摘要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中文要点提炼 + 自动入库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18440" y="1951863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latin typeface="黑体" charset="0"/>
                <a:ea typeface="黑体" charset="0"/>
              </a:rPr>
              <a:t>知识检索</a:t>
            </a:r>
            <a:endParaRPr lang="zh-CN" altLang="en-US" sz="1400" b="1" dirty="0">
              <a:latin typeface="黑体" charset="0"/>
              <a:ea typeface="黑体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4930" y="1925320"/>
            <a:ext cx="268986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读取 obsidian </a:t>
            </a:r>
            <a:r>
              <a:rPr lang="zh-CN" altLang="en-US" sz="1400" dirty="0">
                <a:solidFill>
                  <a:schemeClr val="tx1"/>
                </a:solidFill>
              </a:rPr>
              <a:t>知识库内容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18440" y="2610231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每日</a:t>
            </a:r>
            <a:r>
              <a:rPr 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摘要</a:t>
            </a:r>
            <a:endParaRPr lang="en-US" sz="1400" dirty="0">
              <a:latin typeface="黑体" charset="0"/>
              <a:ea typeface="黑体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4930" y="2583815"/>
            <a:ext cx="268986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自动读取每日的工作记录和文档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自动生成工作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学习摘要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/>
          <p:nvPr/>
        </p:nvPicPr>
        <p:blipFill>
          <a:blip r:embed="rId1"/>
          <a:stretch>
            <a:fillRect/>
          </a:stretch>
        </p:blipFill>
        <p:spPr>
          <a:xfrm>
            <a:off x="3867785" y="411480"/>
            <a:ext cx="4175125" cy="438531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415030" y="4759007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200" b="0" i="1">
                <a:solidFill>
                  <a:schemeClr val="bg1">
                    <a:lumMod val="50000"/>
                  </a:schemeClr>
                </a:solidFill>
                <a:latin typeface="TwitterChirp"/>
                <a:ea typeface="TwitterChirp"/>
              </a:rPr>
              <a:t>https://x.com/karpathy/status/2039805659525644595?s=20</a:t>
            </a:r>
            <a:endParaRPr lang="en-US" altLang="zh-CN" sz="1200" b="0" i="1">
              <a:solidFill>
                <a:schemeClr val="bg1">
                  <a:lumMod val="50000"/>
                </a:schemeClr>
              </a:solidFill>
              <a:latin typeface="TwitterChirp"/>
              <a:ea typeface="TwitterChir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  <a:sym typeface="+mn-ea"/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  <a:sym typeface="+mn-ea"/>
              </a:rPr>
              <a:t>1</a:t>
            </a:r>
            <a:r>
              <a:rPr lang="en-US" sz="2800" b="1" dirty="0">
                <a:solidFill>
                  <a:srgbClr val="2B2B2B"/>
                </a:solidFill>
              </a:rPr>
              <a:t>   知识管理</a:t>
            </a:r>
            <a:endParaRPr lang="en-US" sz="2800" dirty="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270510" y="1104265"/>
            <a:ext cx="5707380" cy="36645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411480"/>
            <a:ext cx="3613785" cy="222821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rcRect l="35307" t="17321" r="16502" b="18210"/>
          <a:stretch>
            <a:fillRect/>
          </a:stretch>
        </p:blipFill>
        <p:spPr>
          <a:xfrm>
            <a:off x="6382385" y="2957195"/>
            <a:ext cx="2212975" cy="20586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1530" y="3989705"/>
            <a:ext cx="3697605" cy="645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 Obsidian </a:t>
            </a:r>
            <a:r>
              <a:rPr lang="zh-CN" altLang="en-US"/>
              <a:t>作为个人知识库</a:t>
            </a:r>
            <a:r>
              <a:rPr lang="en-US" altLang="zh-CN"/>
              <a:t>，</a:t>
            </a:r>
            <a:r>
              <a:rPr lang="zh-CN" altLang="en-US"/>
              <a:t>并自动同步到</a:t>
            </a:r>
            <a:r>
              <a:rPr lang="en-US" altLang="zh-CN"/>
              <a:t> Gitlab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181600" y="2266950"/>
            <a:ext cx="3364230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 OpenClaw </a:t>
            </a:r>
            <a:r>
              <a:rPr lang="zh-CN" altLang="en-US"/>
              <a:t>检索</a:t>
            </a:r>
            <a:r>
              <a:rPr lang="zh-CN" altLang="en-US"/>
              <a:t>个人知识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257800" y="4647565"/>
            <a:ext cx="3364230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 OpenClaw </a:t>
            </a:r>
            <a:r>
              <a:rPr lang="zh-CN" altLang="en-US"/>
              <a:t>推送工作</a:t>
            </a:r>
            <a:r>
              <a:rPr lang="zh-CN" altLang="en-US"/>
              <a:t>纪要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  <a:sym typeface="+mn-ea"/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  <a:sym typeface="+mn-ea"/>
              </a:rPr>
              <a:t>2</a:t>
            </a:r>
            <a:r>
              <a:rPr lang="en-US" sz="2800" b="1" dirty="0">
                <a:solidFill>
                  <a:srgbClr val="2B2B2B"/>
                </a:solidFill>
              </a:rPr>
              <a:t>   项目管理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625"/>
            <a:ext cx="104711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反馈整理</a:t>
            </a:r>
            <a:endParaRPr lang="en-US" sz="1400" b="1" dirty="0">
              <a:solidFill>
                <a:srgbClr val="2B2B2B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5755" y="1280160"/>
            <a:ext cx="2226945" cy="713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接收用户</a:t>
            </a:r>
            <a:r>
              <a:rPr lang="en-US" sz="1400" dirty="0">
                <a:solidFill>
                  <a:schemeClr val="tx1"/>
                </a:solidFill>
              </a:rPr>
              <a:t>反馈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自动分类汇总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生成结构化报告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21970" y="2571623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latin typeface="黑体" charset="0"/>
                <a:ea typeface="黑体" charset="0"/>
              </a:rPr>
              <a:t>问题分类</a:t>
            </a:r>
            <a:endParaRPr lang="zh-CN" altLang="en-US" sz="1400" b="1" dirty="0">
              <a:latin typeface="黑体" charset="0"/>
              <a:ea typeface="黑体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95755" y="2411730"/>
            <a:ext cx="2232660" cy="713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新 Issue 自动打标签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判断优先级、指派负责人；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高优问题</a:t>
            </a:r>
            <a:r>
              <a:rPr lang="zh-CN" altLang="en-US" sz="1400" dirty="0">
                <a:solidFill>
                  <a:schemeClr val="tx1"/>
                </a:solidFill>
              </a:rPr>
              <a:t>推送处理</a:t>
            </a:r>
            <a:r>
              <a:rPr lang="en-US" sz="1400" dirty="0">
                <a:solidFill>
                  <a:schemeClr val="tx1"/>
                </a:solidFill>
              </a:rPr>
              <a:t>群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451606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进展推送</a:t>
            </a:r>
            <a:endParaRPr lang="en-US" sz="1400" b="1" dirty="0">
              <a:solidFill>
                <a:srgbClr val="2B2B2B"/>
              </a:solidFill>
              <a:latin typeface="黑体" charset="0"/>
              <a:ea typeface="黑体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95755" y="3357880"/>
            <a:ext cx="219392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抓取 GitLab 活动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生成日报，</a:t>
            </a:r>
            <a:r>
              <a:rPr lang="zh-CN" altLang="en-US" sz="1400" dirty="0">
                <a:solidFill>
                  <a:schemeClr val="tx1"/>
                </a:solidFill>
              </a:rPr>
              <a:t>定时推送进展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t="15296"/>
          <a:stretch>
            <a:fillRect/>
          </a:stretch>
        </p:blipFill>
        <p:spPr>
          <a:xfrm>
            <a:off x="4001770" y="1181100"/>
            <a:ext cx="5000625" cy="316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  <a:sym typeface="+mn-ea"/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  <a:sym typeface="+mn-ea"/>
              </a:rPr>
              <a:t>2</a:t>
            </a:r>
            <a:r>
              <a:rPr lang="en-US" sz="2800" b="1" dirty="0">
                <a:solidFill>
                  <a:srgbClr val="2B2B2B"/>
                </a:solidFill>
              </a:rPr>
              <a:t>   项目管理</a:t>
            </a:r>
            <a:endParaRPr lang="en-US" sz="2800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51790" y="1386205"/>
            <a:ext cx="3798570" cy="237109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368165" y="362585"/>
            <a:ext cx="4380230" cy="220916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rcRect l="9596" t="14967" r="21641"/>
          <a:stretch>
            <a:fillRect/>
          </a:stretch>
        </p:blipFill>
        <p:spPr>
          <a:xfrm>
            <a:off x="5712460" y="2199640"/>
            <a:ext cx="3208020" cy="29438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4205" y="3989705"/>
            <a:ext cx="218122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收集用户</a:t>
            </a:r>
            <a:r>
              <a:rPr lang="zh-CN" altLang="en-US"/>
              <a:t>产品反馈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481955" y="116205"/>
            <a:ext cx="343852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OpenClaw </a:t>
            </a:r>
            <a:r>
              <a:rPr lang="zh-CN" altLang="en-US"/>
              <a:t>自动打标指派处理</a:t>
            </a:r>
            <a:r>
              <a:rPr lang="zh-CN" altLang="en-US"/>
              <a:t>人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743200" y="4629150"/>
            <a:ext cx="343852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OpenClaw </a:t>
            </a:r>
            <a:r>
              <a:rPr lang="zh-CN" altLang="en-US"/>
              <a:t>自动推送处理人</a:t>
            </a:r>
            <a:r>
              <a:rPr lang="en-US" altLang="zh-CN"/>
              <a:t>/</a:t>
            </a:r>
            <a:r>
              <a:rPr lang="zh-CN" altLang="en-US"/>
              <a:t>群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  <a:sym typeface="+mn-ea"/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  <a:sym typeface="+mn-ea"/>
              </a:rPr>
              <a:t>3</a:t>
            </a:r>
            <a:r>
              <a:rPr lang="en-US" sz="2800" b="1" dirty="0">
                <a:solidFill>
                  <a:srgbClr val="2B2B2B"/>
                </a:solidFill>
              </a:rPr>
              <a:t>   研发辅助</a:t>
            </a:r>
            <a:r>
              <a:rPr lang="zh-CN" altLang="en-US" sz="2800" b="1" dirty="0">
                <a:solidFill>
                  <a:srgbClr val="2B2B2B"/>
                </a:solidFill>
              </a:rPr>
              <a:t>和</a:t>
            </a:r>
            <a:r>
              <a:rPr lang="en-US" altLang="zh-CN" sz="2800" b="1" dirty="0">
                <a:solidFill>
                  <a:srgbClr val="2B2B2B"/>
                </a:solidFill>
              </a:rPr>
              <a:t> </a:t>
            </a:r>
            <a:r>
              <a:rPr lang="en-US" altLang="zh-CN" sz="2800" b="1" dirty="0">
                <a:solidFill>
                  <a:srgbClr val="2B2B2B"/>
                </a:solidFill>
              </a:rPr>
              <a:t>Skills</a:t>
            </a:r>
            <a:endParaRPr lang="en-US" altLang="zh-CN" sz="2800" b="1" dirty="0">
              <a:solidFill>
                <a:srgbClr val="2B2B2B"/>
              </a:solidFill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218440" y="1938655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技术调研</a:t>
            </a:r>
            <a:endParaRPr lang="en-US" sz="1400" b="1" dirty="0">
              <a:solidFill>
                <a:srgbClr val="2B2B2B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176020" y="1938655"/>
            <a:ext cx="308165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给一个主题，自动生成多方案对比报告（成熟度 / 性能 / 生态）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18440" y="2597023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2B2B2B"/>
                </a:solidFill>
                <a:latin typeface="黑体" charset="0"/>
                <a:ea typeface="黑体" charset="0"/>
              </a:rPr>
              <a:t>代码阅读</a:t>
            </a:r>
            <a:endParaRPr lang="zh-CN" altLang="en-US" sz="1400" b="1" dirty="0">
              <a:solidFill>
                <a:srgbClr val="2B2B2B"/>
              </a:solidFill>
              <a:latin typeface="黑体" charset="0"/>
              <a:ea typeface="黑体" charset="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176020" y="2597150"/>
            <a:ext cx="306705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系统性分析陌生仓库的架构、入口、核心抽象，快速建立认知地图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18440" y="3255391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黑体" charset="0"/>
                <a:ea typeface="黑体" charset="0"/>
              </a:rPr>
              <a:t>知识整理</a:t>
            </a:r>
            <a:endParaRPr lang="zh-CN" altLang="en-US" sz="1400" b="1" dirty="0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1176020" y="3255645"/>
            <a:ext cx="305308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官方文档 / API 变更说明 → 中文提炼 + 关键影响点标注，存入知识库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5785" y="1397635"/>
            <a:ext cx="4679315" cy="31197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375785" y="458216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https://github.com/wwsun/skills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1005840"/>
            <a:ext cx="4119880" cy="34747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885" y="1005840"/>
            <a:ext cx="4010025" cy="33959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  <a:sym typeface="+mn-ea"/>
              </a:rPr>
              <a:t>实战场景</a:t>
            </a:r>
            <a:r>
              <a:rPr lang="en-US" altLang="zh-CN" sz="2800" b="1" dirty="0">
                <a:solidFill>
                  <a:srgbClr val="2B2B2B"/>
                </a:solidFill>
                <a:sym typeface="+mn-ea"/>
              </a:rPr>
              <a:t>3</a:t>
            </a:r>
            <a:r>
              <a:rPr lang="en-US" sz="2800" b="1" dirty="0">
                <a:solidFill>
                  <a:srgbClr val="2B2B2B"/>
                </a:solidFill>
              </a:rPr>
              <a:t>   研发辅助</a:t>
            </a:r>
            <a:r>
              <a:rPr lang="zh-CN" altLang="en-US" sz="2800" b="1" dirty="0">
                <a:solidFill>
                  <a:srgbClr val="2B2B2B"/>
                </a:solidFill>
              </a:rPr>
              <a:t>和</a:t>
            </a:r>
            <a:r>
              <a:rPr lang="en-US" altLang="zh-CN" sz="2800" b="1" dirty="0">
                <a:solidFill>
                  <a:srgbClr val="2B2B2B"/>
                </a:solidFill>
              </a:rPr>
              <a:t> </a:t>
            </a:r>
            <a:r>
              <a:rPr lang="en-US" altLang="zh-CN" sz="2800" b="1" dirty="0">
                <a:solidFill>
                  <a:srgbClr val="2B2B2B"/>
                </a:solidFill>
              </a:rPr>
              <a:t>Skills</a:t>
            </a:r>
            <a:endParaRPr lang="en-US" altLang="zh-CN" sz="2800" b="1" dirty="0">
              <a:solidFill>
                <a:srgbClr val="2B2B2B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71575" y="4606925"/>
            <a:ext cx="238569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RepoResearch Skill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7050" y="4606925"/>
            <a:ext cx="238569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Translation Skill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330" y="1172210"/>
            <a:ext cx="5366385" cy="35775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2B2B2B"/>
                </a:solidFill>
              </a:rPr>
              <a:t>现在开始将你的工作习惯整理为</a:t>
            </a:r>
            <a:r>
              <a:rPr lang="en-US" altLang="zh-CN" sz="2800" b="1" dirty="0">
                <a:solidFill>
                  <a:srgbClr val="2B2B2B"/>
                </a:solidFill>
              </a:rPr>
              <a:t> </a:t>
            </a:r>
            <a:r>
              <a:rPr lang="en-US" altLang="zh-CN" sz="2800" b="1" dirty="0">
                <a:solidFill>
                  <a:srgbClr val="2B2B2B"/>
                </a:solidFill>
              </a:rPr>
              <a:t>Skills</a:t>
            </a:r>
            <a:endParaRPr lang="en-US" altLang="zh-CN" sz="2800" b="1" dirty="0">
              <a:solidFill>
                <a:srgbClr val="2B2B2B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48840" y="474980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https://github.com/wwsun/skills</a:t>
            </a:r>
            <a:endParaRPr lang="en-US" altLang="zh-CN" sz="14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148.32,&quot;left&quot;:43.2,&quot;top&quot;:86.4,&quot;width&quot;:655.2}"/>
</p:tagLst>
</file>

<file path=ppt/tags/tag2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ags/tag3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ags/tag4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ags/tag5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ags/tag6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ags/tag7.xml><?xml version="1.0" encoding="utf-8"?>
<p:tagLst xmlns:p="http://schemas.openxmlformats.org/presentationml/2006/main">
  <p:tag name="KSO_WM_DIAGRAM_VIRTUALLY_FRAME" val="{&quot;height&quot;:148.35,&quot;left&quot;:43.2,&quot;top&quot;:86.4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2629</Words>
  <Application>WPS 演示</Application>
  <PresentationFormat>On-screen Show (16:9)</PresentationFormat>
  <Paragraphs>243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宋体</vt:lpstr>
      <vt:lpstr>Wingdings</vt:lpstr>
      <vt:lpstr>Courier New</vt:lpstr>
      <vt:lpstr>Courier New</vt:lpstr>
      <vt:lpstr>Courier New</vt:lpstr>
      <vt:lpstr>Calibri</vt:lpstr>
      <vt:lpstr>苹方-简</vt:lpstr>
      <vt:lpstr>微软雅黑</vt:lpstr>
      <vt:lpstr>宋体</vt:lpstr>
      <vt:lpstr>Arial Unicode MS</vt:lpstr>
      <vt:lpstr>等线</vt:lpstr>
      <vt:lpstr>汉仪中等线KW</vt:lpstr>
      <vt:lpstr>儷宋 Pro</vt:lpstr>
      <vt:lpstr>SFMono-Regular</vt:lpstr>
      <vt:lpstr>Thonburi</vt:lpstr>
      <vt:lpstr>TwitterChirp</vt:lpstr>
      <vt:lpstr>TwitterChirp</vt:lpstr>
      <vt:lpstr>黑体</vt:lpstr>
      <vt:lpstr>汉仪中黑KW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打造「数字同事」——OpenClaw 实战指南</dc:title>
  <dc:creator>PptxGenJS</dc:creator>
  <dc:subject>PptxGenJS Presentation</dc:subject>
  <cp:lastModifiedBy>景庄</cp:lastModifiedBy>
  <cp:revision>7</cp:revision>
  <dcterms:created xsi:type="dcterms:W3CDTF">2026-04-16T06:51:20Z</dcterms:created>
  <dcterms:modified xsi:type="dcterms:W3CDTF">2026-04-16T06:51:20Z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E46AEE1FA8D7475E2182E0699C865FD6_42</vt:lpwstr>
  </property>
</Properties>
</file>